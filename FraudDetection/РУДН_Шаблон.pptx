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66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a110056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0a110056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b6110248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30b6110248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Прокомментировать, что мы уже знаем, что узнаем сегодня, что узнаем в дальнейшем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b6110248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0b6110248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Прокомментировать, что мы уже знаем, что узнаем сегодня, что узнаем в дальнейшем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b6110248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0b61102483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Прокомментировать, что мы уже знаем, что узнаем сегодня, что узнаем в дальнейшем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b61102483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0b61102483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Прокомментировать, что мы уже знаем, что узнаем сегодня, что узнаем в дальнейшем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b61102483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0b61102483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Прокомментировать, что мы уже знаем, что узнаем сегодня, что узнаем в дальнейшем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b6110248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0b6110248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Прокомментировать, что мы уже знаем, что узнаем сегодня, что узнаем в дальнейшем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1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vbondar/python_projects/blob/main/Fraud%20Detection/project.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265749" y="3128119"/>
            <a:ext cx="8737800" cy="117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 b="1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Алгоритм – определитель мошеннических транзакций</a:t>
            </a:r>
            <a:endParaRPr sz="2800" b="1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9570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208375" y="4266010"/>
            <a:ext cx="8623500" cy="666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Автор проекта: Бондарь Татьяна, ФФМиЕН, НКА-01-24</a:t>
            </a:r>
            <a:endParaRPr sz="2000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216650" y="71139"/>
            <a:ext cx="6710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Искусственный интеллект на языке Python</a:t>
            </a:r>
            <a:endParaRPr sz="17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E896B9C-FEC5-F729-D797-393ABD7E3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687" y="571432"/>
            <a:ext cx="4496876" cy="2790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08374" y="232186"/>
            <a:ext cx="8666085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2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Актуальность проекта</a:t>
            </a:r>
            <a:endParaRPr sz="2800" b="1" i="0" u="none" strike="noStrike" cap="none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08375" y="937156"/>
            <a:ext cx="81408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Финансовое мошенничество угрожает безопасности клиентов банков, ежегодно приводя к многомиллионным убыткам. В последние годы число мошеннических транзакций значительно возросло. Разработка автоматизированных систем на основе машинного обучения позволяет банкам оперативно выявлять подозрительные операции, блокировать их и защищать средства клиентов. Данный проект предлагает алгоритм обнаружения мошеннических схем, обеспечивающий высокую точность и визуализацию данных.</a:t>
            </a:r>
            <a:endParaRPr lang="ru-RU" sz="1800" dirty="0">
              <a:solidFill>
                <a:schemeClr val="bg2">
                  <a:lumMod val="20000"/>
                  <a:lumOff val="8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08385" y="293145"/>
            <a:ext cx="880951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2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Оригинальность идеи</a:t>
            </a:r>
            <a:endParaRPr sz="2800" b="1" i="0" u="none" strike="noStrike" cap="none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08385" y="937181"/>
            <a:ext cx="8140800" cy="235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20000"/>
              </a:lnSpc>
              <a:spcBef>
                <a:spcPts val="700"/>
              </a:spcBef>
              <a:spcAft>
                <a:spcPts val="700"/>
              </a:spcAft>
            </a:pP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Программа реализует алгоритм бинарной классификации на основе </a:t>
            </a:r>
            <a:r>
              <a:rPr lang="ru-RU" sz="18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Random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Forest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Она автоматически создаёт новые признаки</a:t>
            </a: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анализирует данные и предсказывает вероятность мошенничества. Уникальность: сочетание </a:t>
            </a:r>
            <a:r>
              <a:rPr lang="ru-RU" sz="18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engineering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обработки дисбаланса классов и наглядной визуализации (распределение транзакций, важность признаков), что облегчает процесс анализа.</a:t>
            </a:r>
            <a:endParaRPr sz="1800" b="0" i="0" u="none" strike="noStrike" cap="none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208385" y="210671"/>
            <a:ext cx="8805924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2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Использованный инструментарий</a:t>
            </a:r>
            <a:endParaRPr sz="2800" b="1" i="0" u="none" strike="noStrike" cap="none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08385" y="937181"/>
            <a:ext cx="8140800" cy="256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Программа разработана на языке 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с  использованием библиотек:</a:t>
            </a:r>
            <a:endParaRPr lang="en-US" sz="1800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- Pandas – feature engineering, </a:t>
            </a: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обработка и анализ данных;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lvl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- Matplotlib, Seaborn</a:t>
            </a: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– визуализация обработанных данных;</a:t>
            </a:r>
            <a:endParaRPr lang="en-US" sz="1800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- Scikit-learn</a:t>
            </a: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– обучение модели 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Random Forest, </a:t>
            </a: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оценка качества;</a:t>
            </a:r>
            <a:endParaRPr lang="en-US" sz="1800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sz="1800" dirty="0" err="1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Imblearn</a:t>
            </a: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– обработка дисбаланса классов ( </a:t>
            </a:r>
            <a:r>
              <a:rPr lang="en-US" sz="1800" dirty="0" err="1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undersampling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);</a:t>
            </a: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В качестве среды разработки использовался </a:t>
            </a:r>
            <a:r>
              <a:rPr lang="en-US" sz="1800" dirty="0" err="1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Pycharm</a:t>
            </a:r>
            <a:r>
              <a:rPr lang="en-US" sz="18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i="0" u="none" strike="noStrike" cap="none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208385" y="228600"/>
            <a:ext cx="8737792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2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Перспективы проекта </a:t>
            </a:r>
            <a:endParaRPr sz="2800" b="1" i="0" u="none" strike="noStrike" cap="none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208385" y="937181"/>
            <a:ext cx="81408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Алгоритм, обученный на синтетическом датасете PaySim1 (</a:t>
            </a:r>
            <a:r>
              <a:rPr lang="ru-RU" sz="18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Kaggle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демонстрирует высокую точность (ROC-AUC &gt;0.95). В будущем возможно:</a:t>
            </a: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1. 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Адаптация к реальным банковским данным с учётом их     	специфики (добавление новых признаков)</a:t>
            </a: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800" dirty="0">
              <a:solidFill>
                <a:schemeClr val="bg2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2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2. 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Интеграция в системы банков для анализа транзакций.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2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3. 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Разработка API для автоматического уведомления клиентов о </a:t>
            </a: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подозрительных операциях.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368867" y="246012"/>
            <a:ext cx="8577309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2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Код программы</a:t>
            </a:r>
            <a:endParaRPr sz="2800" b="1" i="0" u="none" strike="noStrike" cap="none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283680" y="831542"/>
            <a:ext cx="8110862" cy="55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20000"/>
              </a:lnSpc>
              <a:spcAft>
                <a:spcPts val="700"/>
              </a:spcAft>
            </a:pPr>
            <a:r>
              <a:rPr lang="en-US" sz="15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https://github.com/tvbondar/python_projects/blob/main/Fraud%20Detection/project.py</a:t>
            </a:r>
            <a:r>
              <a:rPr lang="en-US" sz="1500" dirty="0">
                <a:solidFill>
                  <a:schemeClr val="tx2">
                    <a:lumMod val="9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 i="0" u="none" strike="noStrike" cap="none" dirty="0">
              <a:solidFill>
                <a:schemeClr val="tx2">
                  <a:lumMod val="9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820271-8D6F-F0BD-6B6D-96D010C45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68" y="1369929"/>
            <a:ext cx="8491452" cy="31549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712788-DEA0-05D4-F803-9E5DA51B9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51" y="753401"/>
            <a:ext cx="7981962" cy="3427738"/>
          </a:xfrm>
          <a:prstGeom prst="rect">
            <a:avLst/>
          </a:prstGeom>
        </p:spPr>
      </p:pic>
      <p:sp>
        <p:nvSpPr>
          <p:cNvPr id="8" name="Google Shape;94;p19">
            <a:extLst>
              <a:ext uri="{FF2B5EF4-FFF2-40B4-BE49-F238E27FC236}">
                <a16:creationId xmlns:a16="http://schemas.microsoft.com/office/drawing/2014/main" id="{6CDC36FE-0C9B-3388-2999-8FE69074C14A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273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24C0BF-90F3-5070-79CF-045BDA5F7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15" y="0"/>
            <a:ext cx="7884413" cy="5074800"/>
          </a:xfrm>
          <a:prstGeom prst="rect">
            <a:avLst/>
          </a:prstGeom>
        </p:spPr>
      </p:pic>
      <p:sp>
        <p:nvSpPr>
          <p:cNvPr id="8" name="Google Shape;94;p19">
            <a:extLst>
              <a:ext uri="{FF2B5EF4-FFF2-40B4-BE49-F238E27FC236}">
                <a16:creationId xmlns:a16="http://schemas.microsoft.com/office/drawing/2014/main" id="{08869BDC-974B-35D3-6EBF-EA2BC14D9E2B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491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2A1232-C8E8-09A8-7C76-07A38AE61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3" y="186467"/>
            <a:ext cx="8484190" cy="4888334"/>
          </a:xfrm>
          <a:prstGeom prst="rect">
            <a:avLst/>
          </a:prstGeom>
        </p:spPr>
      </p:pic>
      <p:sp>
        <p:nvSpPr>
          <p:cNvPr id="10" name="Google Shape;94;p19">
            <a:extLst>
              <a:ext uri="{FF2B5EF4-FFF2-40B4-BE49-F238E27FC236}">
                <a16:creationId xmlns:a16="http://schemas.microsoft.com/office/drawing/2014/main" id="{5C475605-E05F-165B-5347-88DA0F499507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01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71075A-CF25-C770-928E-F9E1D1A35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34" y="-3431"/>
            <a:ext cx="5364480" cy="5078231"/>
          </a:xfrm>
          <a:prstGeom prst="rect">
            <a:avLst/>
          </a:prstGeom>
        </p:spPr>
      </p:pic>
      <p:sp>
        <p:nvSpPr>
          <p:cNvPr id="6" name="Google Shape;94;p19">
            <a:extLst>
              <a:ext uri="{FF2B5EF4-FFF2-40B4-BE49-F238E27FC236}">
                <a16:creationId xmlns:a16="http://schemas.microsoft.com/office/drawing/2014/main" id="{900CC9F1-091F-F161-EBDC-82B5982146CF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264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35E3E1-1BBE-AB13-6EC0-7FD9B711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862" y="7465"/>
            <a:ext cx="4837354" cy="5071045"/>
          </a:xfrm>
          <a:prstGeom prst="rect">
            <a:avLst/>
          </a:prstGeom>
        </p:spPr>
      </p:pic>
      <p:sp>
        <p:nvSpPr>
          <p:cNvPr id="6" name="Google Shape;94;p19">
            <a:extLst>
              <a:ext uri="{FF2B5EF4-FFF2-40B4-BE49-F238E27FC236}">
                <a16:creationId xmlns:a16="http://schemas.microsoft.com/office/drawing/2014/main" id="{A10B2AB1-6DDF-9115-937F-C7358ACCFCC0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8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172302-A4AD-8873-6B16-8582EF1F6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4" y="0"/>
            <a:ext cx="7528870" cy="5062515"/>
          </a:xfrm>
          <a:prstGeom prst="rect">
            <a:avLst/>
          </a:prstGeom>
        </p:spPr>
      </p:pic>
      <p:sp>
        <p:nvSpPr>
          <p:cNvPr id="6" name="Google Shape;94;p19">
            <a:extLst>
              <a:ext uri="{FF2B5EF4-FFF2-40B4-BE49-F238E27FC236}">
                <a16:creationId xmlns:a16="http://schemas.microsoft.com/office/drawing/2014/main" id="{261337B5-E695-D1F3-4F26-5B8FC981F865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49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108349-D3D1-5256-259E-F0126F85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498437"/>
            <a:ext cx="7799466" cy="4272750"/>
          </a:xfrm>
          <a:prstGeom prst="rect">
            <a:avLst/>
          </a:prstGeom>
        </p:spPr>
      </p:pic>
      <p:sp>
        <p:nvSpPr>
          <p:cNvPr id="6" name="Google Shape;94;p19">
            <a:extLst>
              <a:ext uri="{FF2B5EF4-FFF2-40B4-BE49-F238E27FC236}">
                <a16:creationId xmlns:a16="http://schemas.microsoft.com/office/drawing/2014/main" id="{2EA20330-FD7D-84B9-4170-BE3FE87030A0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29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3E3B61-CB18-4813-8BCE-F6797B4C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80" y="0"/>
            <a:ext cx="6451003" cy="5074946"/>
          </a:xfrm>
          <a:prstGeom prst="rect">
            <a:avLst/>
          </a:prstGeom>
        </p:spPr>
      </p:pic>
      <p:sp>
        <p:nvSpPr>
          <p:cNvPr id="6" name="Google Shape;94;p19">
            <a:extLst>
              <a:ext uri="{FF2B5EF4-FFF2-40B4-BE49-F238E27FC236}">
                <a16:creationId xmlns:a16="http://schemas.microsoft.com/office/drawing/2014/main" id="{877D466A-BBC4-C706-DFA3-99554B2340FA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0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;p19">
            <a:extLst>
              <a:ext uri="{FF2B5EF4-FFF2-40B4-BE49-F238E27FC236}">
                <a16:creationId xmlns:a16="http://schemas.microsoft.com/office/drawing/2014/main" id="{70A46EA3-233D-3152-ADAB-063C31360DE5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412B91-6699-B093-E912-166F5CB9E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322" y="-713"/>
            <a:ext cx="6078071" cy="507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6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;p19">
            <a:extLst>
              <a:ext uri="{FF2B5EF4-FFF2-40B4-BE49-F238E27FC236}">
                <a16:creationId xmlns:a16="http://schemas.microsoft.com/office/drawing/2014/main" id="{B732354B-0355-0C1E-214F-5B17FCC7F382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298595-FC12-0ED5-B667-7D52AD03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628" y="0"/>
            <a:ext cx="5504907" cy="506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83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03102" y="290675"/>
            <a:ext cx="87378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28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Результат работы программы</a:t>
            </a:r>
            <a:endParaRPr sz="2800" b="1" i="0" u="none" strike="noStrike" cap="none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E796E6-248B-43D3-BBC7-6D04E1B2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9303"/>
            <a:ext cx="9144000" cy="2827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1110BB-F447-CE09-14E0-C202F71B5C52}"/>
              </a:ext>
            </a:extLst>
          </p:cNvPr>
          <p:cNvSpPr txBox="1"/>
          <p:nvPr/>
        </p:nvSpPr>
        <p:spPr>
          <a:xfrm>
            <a:off x="233082" y="1133139"/>
            <a:ext cx="8258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Logging info </a:t>
            </a:r>
            <a:r>
              <a:rPr lang="ru-RU" sz="2400" dirty="0">
                <a:solidFill>
                  <a:schemeClr val="bg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визуализация данных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1;p20">
            <a:extLst>
              <a:ext uri="{FF2B5EF4-FFF2-40B4-BE49-F238E27FC236}">
                <a16:creationId xmlns:a16="http://schemas.microsoft.com/office/drawing/2014/main" id="{A056F007-73DC-7EF4-3DBC-0D37737B0EBB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2262EA-E4D5-9B6A-E787-39FD0E5D8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40" y="-1"/>
            <a:ext cx="6754308" cy="50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1;p20">
            <a:extLst>
              <a:ext uri="{FF2B5EF4-FFF2-40B4-BE49-F238E27FC236}">
                <a16:creationId xmlns:a16="http://schemas.microsoft.com/office/drawing/2014/main" id="{164933CC-5894-9892-33CC-9ACD94C867EB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8D3B58-2D18-2617-AC60-5AE6AA1A3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40" y="0"/>
            <a:ext cx="7604558" cy="50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07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1;p20">
            <a:extLst>
              <a:ext uri="{FF2B5EF4-FFF2-40B4-BE49-F238E27FC236}">
                <a16:creationId xmlns:a16="http://schemas.microsoft.com/office/drawing/2014/main" id="{1BA539A3-EA5B-EF37-CE7A-521D6CBB5F7F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362430-BECC-6BA4-0F60-41DB2306C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51" y="0"/>
            <a:ext cx="7612201" cy="50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98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D71A6-FE16-9D64-632E-611022F5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Итоги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4" name="Google Shape;101;p20">
            <a:extLst>
              <a:ext uri="{FF2B5EF4-FFF2-40B4-BE49-F238E27FC236}">
                <a16:creationId xmlns:a16="http://schemas.microsoft.com/office/drawing/2014/main" id="{60CE24E1-C6DE-DE35-02D1-BC8FF444A468}"/>
              </a:ext>
            </a:extLst>
          </p:cNvPr>
          <p:cNvSpPr/>
          <p:nvPr/>
        </p:nvSpPr>
        <p:spPr>
          <a:xfrm>
            <a:off x="-19075" y="5074800"/>
            <a:ext cx="9163200" cy="72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865BA2-0DDD-1486-F32F-D2FC70DDD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7559" y="1163273"/>
            <a:ext cx="92352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ru-RU" dirty="0">
                <a:solidFill>
                  <a:schemeClr val="tx2">
                    <a:lumMod val="9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Разработан алгоритм обнаружения мошеннических транзакций на основе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Random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Forest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Достигнуты высокие метрики качества (ROC-AUC ~0.95, точные данные в логах).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Созданы визуализации: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1.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Распределение легитимных и мошеннических транзакций.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2.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Распределение типов транзакций.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3.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Топ-15 признаков, влияющих на предсказания.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Тестовые сценарии: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1.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Обычная транзакция: 2.26% (низкий риск).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2.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Подозрительная транзакция: 66.03% (средний риск).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Логирование всех этапов обеспечивает прозрачность работы. </a:t>
            </a:r>
          </a:p>
        </p:txBody>
      </p:sp>
    </p:spTree>
    <p:extLst>
      <p:ext uri="{BB962C8B-B14F-4D97-AF65-F5344CB8AC3E}">
        <p14:creationId xmlns:p14="http://schemas.microsoft.com/office/powerpoint/2010/main" val="18470480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475</Words>
  <Application>Microsoft Office PowerPoint</Application>
  <PresentationFormat>Экран (16:9)</PresentationFormat>
  <Paragraphs>44</Paragraphs>
  <Slides>21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Roboto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Татьяна Бондарь</cp:lastModifiedBy>
  <cp:revision>3</cp:revision>
  <dcterms:modified xsi:type="dcterms:W3CDTF">2025-08-12T11:19:47Z</dcterms:modified>
</cp:coreProperties>
</file>