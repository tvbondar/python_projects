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73" r:id="rId10"/>
    <p:sldId id="274" r:id="rId11"/>
    <p:sldId id="275" r:id="rId12"/>
    <p:sldId id="278" r:id="rId13"/>
    <p:sldId id="276" r:id="rId1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33" d="100"/>
          <a:sy n="133" d="100"/>
        </p:scale>
        <p:origin x="66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110056d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0a110056d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0b61102483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g30b61102483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b61102483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30b61102483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0b61102483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0b61102483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0b61102483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0b61102483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0b61102483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g30b61102483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b61102483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g30b61102483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Прокомментировать, что мы уже знаем, что узнаем сегодня, что узнаем в дальнейшем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TITLE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 dpi="0" rotWithShape="1">
          <a:blip r:embed="rId14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vbondar/python_projects/tree/main/FraudDetec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265749" y="3128119"/>
            <a:ext cx="8737800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2800" b="1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Алгоритм – определитель мошеннических транзакций</a:t>
            </a:r>
            <a:endParaRPr sz="2800" b="1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" name="Google Shape;58;p14"/>
          <p:cNvSpPr/>
          <p:nvPr/>
        </p:nvSpPr>
        <p:spPr>
          <a:xfrm>
            <a:off x="-9570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208375" y="4266010"/>
            <a:ext cx="8623500" cy="6665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Автор проекта: Бондарь Татьяна, ФФМиЕН, НКА-01-24</a:t>
            </a:r>
            <a:endParaRPr sz="2000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1216650" y="71139"/>
            <a:ext cx="6710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Искусственный интеллект на языке Python</a:t>
            </a:r>
            <a:endParaRPr sz="17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E896B9C-FEC5-F729-D797-393ABD7E3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1687" y="571432"/>
            <a:ext cx="4496876" cy="27906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208374" y="232186"/>
            <a:ext cx="8666085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Актуальность проекта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208375" y="937156"/>
            <a:ext cx="81408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Финансовое мошенничество угрожает безопасности клиентов банков, еж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его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дно приводя к многомиллионным убыткам. В последние годы число мошеннических транзакций значительно возросло. Разработка автоматизированных систем на основе машинного обучения позволяет банкам оперативно выявлять подозрительные операции, блокировать их и защищать средства клиентов. Данный проект предлагает алгоритм обнаружения мошеннических схем, основанный на нейросетевой архитектуре, и обеспечивающий высокую точность и визуализацию данных.</a:t>
            </a:r>
            <a:endParaRPr lang="ru-RU" sz="1800" dirty="0">
              <a:solidFill>
                <a:schemeClr val="bg2">
                  <a:lumMod val="20000"/>
                  <a:lumOff val="8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208385" y="293145"/>
            <a:ext cx="8809510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Оригинальность идеи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33487" y="980473"/>
            <a:ext cx="8205749" cy="406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Программа реализует систему обнаружения мошеннических транзакций на основе нейронной сети. Она автоматически загружает данные, создаёт новые информативные признаки, выполняет балансировку сильно несбалансированных классов, обучает модель и предсказывает вероятность мошенничества как для всего датасета, так и для отдельной транзакции в реальном времени.</a:t>
            </a:r>
          </a:p>
          <a:p>
            <a:endParaRPr lang="ru-RU" sz="1800" dirty="0">
              <a:solidFill>
                <a:schemeClr val="bg1">
                  <a:lumMod val="85000"/>
                </a:schemeClr>
              </a:solidFill>
              <a:effectLst/>
            </a:endParaRP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Уникальность решения заключается в сочетании </a:t>
            </a:r>
            <a:r>
              <a:rPr lang="ru-RU" sz="1800" dirty="0" err="1">
                <a:solidFill>
                  <a:schemeClr val="bg1">
                    <a:lumMod val="85000"/>
                  </a:schemeClr>
                </a:solidFill>
              </a:rPr>
              <a:t>feature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ru-RU" sz="1800" dirty="0" err="1">
                <a:solidFill>
                  <a:schemeClr val="bg1">
                    <a:lumMod val="85000"/>
                  </a:schemeClr>
                </a:solidFill>
              </a:rPr>
              <a:t>engineering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, эффективной обработки дисбаланса классов (</a:t>
            </a:r>
            <a:r>
              <a:rPr lang="ru-RU" sz="1800" dirty="0" err="1">
                <a:solidFill>
                  <a:schemeClr val="bg1">
                    <a:lumMod val="85000"/>
                  </a:schemeClr>
                </a:solidFill>
              </a:rPr>
              <a:t>RandomUnderSampler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 + мониторинг AUC), а также наглядной визуализации результатов (распределение транзакций по типам и классам, графики важности признаков). Всё это делает систему полноценным прототипом решения для </a:t>
            </a:r>
            <a:r>
              <a:rPr lang="ru-RU" sz="1800" dirty="0" err="1">
                <a:solidFill>
                  <a:schemeClr val="bg1">
                    <a:lumMod val="85000"/>
                  </a:schemeClr>
                </a:solidFill>
              </a:rPr>
              <a:t>fraud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ru-RU" sz="1800" dirty="0" err="1">
                <a:solidFill>
                  <a:schemeClr val="bg1">
                    <a:lumMod val="85000"/>
                  </a:schemeClr>
                </a:solidFill>
              </a:rPr>
              <a:t>detection</a:t>
            </a: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endParaRPr lang="ru-RU" sz="180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/>
        </p:nvSpPr>
        <p:spPr>
          <a:xfrm>
            <a:off x="208385" y="210671"/>
            <a:ext cx="8805924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Использованный инструментарий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08385" y="937181"/>
            <a:ext cx="8140800" cy="3353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Программа разработана на языке </a:t>
            </a:r>
            <a:r>
              <a:rPr lang="en-US" sz="18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Python </a:t>
            </a:r>
            <a:r>
              <a:rPr lang="ru-RU" sz="18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с  использованием библиотек:</a:t>
            </a:r>
          </a:p>
          <a:p>
            <a:pPr lvl="0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			1.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</a:rPr>
              <a:t>TensorFlow / </a:t>
            </a:r>
            <a:r>
              <a:rPr lang="en-US" sz="1800" dirty="0" err="1">
                <a:solidFill>
                  <a:schemeClr val="bg1">
                    <a:lumMod val="85000"/>
                  </a:schemeClr>
                </a:solidFill>
              </a:rPr>
              <a:t>Keras</a:t>
            </a:r>
            <a:endParaRPr lang="ru-RU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			2.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</a:rPr>
              <a:t>Pandas</a:t>
            </a:r>
            <a:endParaRPr lang="ru-RU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			3.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</a:rPr>
              <a:t>Scikit-learn</a:t>
            </a:r>
            <a:endParaRPr lang="ru-RU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			4.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</a:rPr>
              <a:t>Imbalanced-learn</a:t>
            </a:r>
            <a:endParaRPr lang="ru-RU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dirty="0">
                <a:solidFill>
                  <a:schemeClr val="bg1">
                    <a:lumMod val="85000"/>
                  </a:schemeClr>
                </a:solidFill>
              </a:rPr>
              <a:t>			5.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</a:rPr>
              <a:t>Matplotlib / Seaborn</a:t>
            </a:r>
          </a:p>
          <a:p>
            <a:pPr lvl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В качестве среды разработки использовался </a:t>
            </a:r>
            <a:r>
              <a:rPr lang="en-US" sz="1800" dirty="0" err="1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Pycharm</a:t>
            </a:r>
            <a:r>
              <a:rPr lang="en-US" sz="18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800" i="0" u="none" strike="noStrike" cap="none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208385" y="228600"/>
            <a:ext cx="8737792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Перспективы проекта 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8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208385" y="937181"/>
            <a:ext cx="8140800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Алгоритм, обученный на синтетическом датасете PaySim1 (</a:t>
            </a:r>
            <a:r>
              <a:rPr lang="ru-RU" sz="18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Kaggle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), демонстрирует высокую точность (ROC-AUC &gt;0.99). В будущем возможно:</a:t>
            </a:r>
          </a:p>
          <a:p>
            <a:pPr>
              <a:buClr>
                <a:schemeClr val="bg1"/>
              </a:buClr>
            </a:pPr>
            <a:r>
              <a:rPr lang="en-US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1. 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Адаптация к реальным банковским данным с учётом их     	специфики (добавление новых признаков)</a:t>
            </a:r>
            <a:r>
              <a:rPr lang="en-US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endParaRPr lang="ru-RU" sz="1800" dirty="0">
              <a:solidFill>
                <a:schemeClr val="bg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buClr>
                <a:schemeClr val="bg1"/>
              </a:buClr>
            </a:pPr>
            <a:endParaRPr lang="en-US" sz="1800" dirty="0">
              <a:solidFill>
                <a:schemeClr val="bg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buClr>
                <a:schemeClr val="bg1"/>
              </a:buClr>
            </a:pPr>
            <a:r>
              <a:rPr lang="en-US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2. 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Интеграция в системы банков для анализа транзакций.</a:t>
            </a:r>
          </a:p>
          <a:p>
            <a:pPr>
              <a:buClr>
                <a:schemeClr val="bg1"/>
              </a:buClr>
            </a:pPr>
            <a:endParaRPr lang="en-US" sz="1800" dirty="0">
              <a:solidFill>
                <a:schemeClr val="bg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buClr>
                <a:schemeClr val="bg1"/>
              </a:buClr>
            </a:pPr>
            <a:r>
              <a:rPr lang="en-US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3. 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Разработка API для автоматического уведомления клиентов о </a:t>
            </a:r>
            <a:r>
              <a:rPr lang="en-US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ru-RU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подозрительных операциях.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/>
        </p:nvSpPr>
        <p:spPr>
          <a:xfrm>
            <a:off x="368867" y="246012"/>
            <a:ext cx="8577309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Код программы и структура проекта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19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283680" y="831542"/>
            <a:ext cx="8110862" cy="3500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20000"/>
              </a:lnSpc>
              <a:spcAft>
                <a:spcPts val="700"/>
              </a:spcAft>
            </a:pPr>
            <a:r>
              <a:rPr lang="en-US" sz="15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https://github.com/tvbondar/python_projects/tree/main/FraudDetection</a:t>
            </a:r>
            <a:r>
              <a:rPr lang="ru-RU" sz="1500" dirty="0">
                <a:solidFill>
                  <a:schemeClr val="tx2">
                    <a:lumMod val="9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</a:p>
          <a:p>
            <a:pPr lvl="0">
              <a:lnSpc>
                <a:spcPct val="120000"/>
              </a:lnSpc>
              <a:spcAft>
                <a:spcPts val="700"/>
              </a:spcAft>
            </a:pPr>
            <a:endParaRPr lang="ru-RU" sz="1500" i="0" u="none" strike="noStrike" cap="none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FraudDetection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/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├── data/              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датасет 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├──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models/            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обученная модель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model.joblib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├── visualizations/    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графики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├──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config.py          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все настройки и константы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├──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functions.py                                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основной класс, функции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├──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main.py            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точка входа в программу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├──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fraud_detection.log                         # 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логи</a:t>
            </a:r>
          </a:p>
          <a:p>
            <a:r>
              <a:rPr lang="ru-RU" sz="1600" dirty="0">
                <a:solidFill>
                  <a:schemeClr val="bg1">
                    <a:lumMod val="85000"/>
                  </a:schemeClr>
                </a:solidFill>
              </a:rPr>
              <a:t>	└── 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README.md </a:t>
            </a:r>
          </a:p>
          <a:p>
            <a:pPr lvl="0">
              <a:lnSpc>
                <a:spcPct val="120000"/>
              </a:lnSpc>
              <a:spcAft>
                <a:spcPts val="700"/>
              </a:spcAft>
            </a:pPr>
            <a:endParaRPr sz="1500" i="0" u="none" strike="noStrike" cap="none" dirty="0">
              <a:solidFill>
                <a:schemeClr val="tx2">
                  <a:lumMod val="90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03102" y="290675"/>
            <a:ext cx="8737800" cy="68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" sz="28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Результат работы программы</a:t>
            </a:r>
            <a:endParaRPr sz="2800" b="1" i="0" u="none" strike="noStrike" cap="none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" name="Google Shape;101;p20"/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1110BB-F447-CE09-14E0-C202F71B5C52}"/>
              </a:ext>
            </a:extLst>
          </p:cNvPr>
          <p:cNvSpPr txBox="1"/>
          <p:nvPr/>
        </p:nvSpPr>
        <p:spPr>
          <a:xfrm>
            <a:off x="233082" y="1133139"/>
            <a:ext cx="854515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Logging info </a:t>
            </a:r>
            <a:r>
              <a:rPr lang="ru-RU" sz="2400" dirty="0">
                <a:solidFill>
                  <a:schemeClr val="bg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 визуализация данных</a:t>
            </a:r>
          </a:p>
          <a:p>
            <a:endParaRPr lang="ru-RU" sz="1800" dirty="0">
              <a:solidFill>
                <a:schemeClr val="bg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Обычная дневная транзакция (маленький платёж):</a:t>
            </a: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16:13:43,380 - INFO - Вероятность мошенничества: 0.3345%</a:t>
            </a: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16:13:43,380 - INFO - Уровень риска: НИЗКИЙ</a:t>
            </a:r>
          </a:p>
          <a:p>
            <a:endParaRPr lang="ru-RU" sz="1800" dirty="0">
              <a:solidFill>
                <a:schemeClr val="bg1">
                  <a:lumMod val="8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16:13:43,495 - INFO - Подозрительный перевод ночью всей суммы на счёте:</a:t>
            </a: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16:13:43,495 - INFO - Вероятность мошенничества: 94.2945%</a:t>
            </a:r>
          </a:p>
          <a:p>
            <a:r>
              <a:rPr lang="ru-RU" sz="18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16:13:43,495 - INFO - Уровень риска: ВЫСОКИЙ</a:t>
            </a:r>
          </a:p>
          <a:p>
            <a:endParaRPr lang="ru-RU" sz="2400" dirty="0">
              <a:solidFill>
                <a:schemeClr val="bg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FC00848D-C4D4-52AE-FC9F-B6E747EFA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763770"/>
          </a:xfrm>
        </p:spPr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16:13:43,591 - INFO - Обычное пополнение днём (CASH_IN):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16:13:43,591 - INFO - Вероятность мошенничества: 0.0060%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16:13:43,591 - INFO - Уровень риска: НИЗКИЙ</a:t>
            </a:r>
          </a:p>
          <a:p>
            <a:pPr marL="114300" indent="0">
              <a:buNone/>
            </a:pPr>
            <a:endParaRPr lang="ru-RU" dirty="0">
              <a:solidFill>
                <a:schemeClr val="bg1">
                  <a:lumMod val="8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16:13:43,676 - INFO - Очень большая сумма ночью + обнуление счёта (классическое мошенничество):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16:13:43,676 - INFO - Вероятность мошенничества: 88.5974%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16:13:43,676 - INFO - Уровень риска: ВЫСОКИЙ</a:t>
            </a:r>
          </a:p>
          <a:p>
            <a:pPr marL="114300" indent="0">
              <a:buNone/>
            </a:pPr>
            <a:endParaRPr lang="ru-RU" dirty="0">
              <a:solidFill>
                <a:schemeClr val="bg1">
                  <a:lumMod val="8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16:13:43,773 - INFO - Мелкий вывод наличных днём — норма: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16:13:43,773 - INFO - Вероятность мошенничества: 3.9449%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2025-11-23 16:13:43,773 - INFO - Уровень риска: НИЗКИЙ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2492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1;p20">
            <a:extLst>
              <a:ext uri="{FF2B5EF4-FFF2-40B4-BE49-F238E27FC236}">
                <a16:creationId xmlns:a16="http://schemas.microsoft.com/office/drawing/2014/main" id="{A056F007-73DC-7EF4-3DBC-0D37737B0EBB}"/>
              </a:ext>
            </a:extLst>
          </p:cNvPr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2262EA-E4D5-9B6A-E787-39FD0E5D8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40" y="-1"/>
            <a:ext cx="6754308" cy="506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2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1;p20">
            <a:extLst>
              <a:ext uri="{FF2B5EF4-FFF2-40B4-BE49-F238E27FC236}">
                <a16:creationId xmlns:a16="http://schemas.microsoft.com/office/drawing/2014/main" id="{164933CC-5894-9892-33CC-9ACD94C867EB}"/>
              </a:ext>
            </a:extLst>
          </p:cNvPr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8D3B58-2D18-2617-AC60-5AE6AA1A3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40" y="0"/>
            <a:ext cx="7604558" cy="506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40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1;p20">
            <a:extLst>
              <a:ext uri="{FF2B5EF4-FFF2-40B4-BE49-F238E27FC236}">
                <a16:creationId xmlns:a16="http://schemas.microsoft.com/office/drawing/2014/main" id="{1BA539A3-EA5B-EF37-CE7A-521D6CBB5F7F}"/>
              </a:ext>
            </a:extLst>
          </p:cNvPr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2362430-BECC-6BA4-0F60-41DB2306C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51" y="0"/>
            <a:ext cx="7612201" cy="50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798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B86BDC-1D05-E520-1C43-C5E37F47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Метрики обученной модели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FC817CB-00ED-617A-B2FF-00748B618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  <a:p>
            <a:pPr marL="114300" indent="0"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	ROC-AUC:		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            		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0.9989</a:t>
            </a:r>
            <a:endParaRPr lang="ru-RU" b="1" dirty="0">
              <a:solidFill>
                <a:schemeClr val="bg1">
                  <a:lumMod val="85000"/>
                </a:schemeClr>
              </a:solidFill>
            </a:endParaRP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Accuracy:               			0.9834    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Precision (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класс "мошенничество")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0.9855  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Recall (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класс "мошенничество")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    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0.9643    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F1-score:                       			0.9748      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Тестовых примеров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            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7 392      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Мошеннических в тесте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        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		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2 464 (33.3%) </a:t>
            </a:r>
          </a:p>
          <a:p>
            <a:pPr marL="11430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58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5D71A6-FE16-9D64-632E-611022F56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Итоги</a:t>
            </a:r>
            <a:r>
              <a:rPr lang="ru-RU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</p:txBody>
      </p:sp>
      <p:sp>
        <p:nvSpPr>
          <p:cNvPr id="4" name="Google Shape;101;p20">
            <a:extLst>
              <a:ext uri="{FF2B5EF4-FFF2-40B4-BE49-F238E27FC236}">
                <a16:creationId xmlns:a16="http://schemas.microsoft.com/office/drawing/2014/main" id="{60CE24E1-C6DE-DE35-02D1-BC8FF444A468}"/>
              </a:ext>
            </a:extLst>
          </p:cNvPr>
          <p:cNvSpPr/>
          <p:nvPr/>
        </p:nvSpPr>
        <p:spPr>
          <a:xfrm>
            <a:off x="-19075" y="5074800"/>
            <a:ext cx="9163200" cy="72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7865BA2-0DDD-1486-F32F-D2FC70DDDE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47559" y="1440272"/>
            <a:ext cx="8672567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Разработан алгоритм обнаружения мошеннических транзакций на основе </a:t>
            </a:r>
            <a:endParaRPr kumimoji="0" lang="en-US" altLang="ru-RU" sz="18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ru-RU" altLang="ru-RU" dirty="0">
                <a:solidFill>
                  <a:schemeClr val="tx2">
                    <a:lumMod val="9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нейросетевой архитектуры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Достигнуты высокие метрики качества (ROC-AUC ~0.99).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Созданы визуализации: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1.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Распределение легитимных и мошеннических транзакций.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2.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Распределение типов транзакций.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3.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Топ-15 признаков, влияющих на предсказания.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Тестовые сценарии</a:t>
            </a:r>
            <a:r>
              <a:rPr lang="ru-RU" altLang="ru-RU" dirty="0">
                <a:solidFill>
                  <a:schemeClr val="tx2">
                    <a:lumMod val="9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предсказаны с высокой точностью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Логирование всех этапов обеспечивает прозрачность работы. </a:t>
            </a:r>
          </a:p>
        </p:txBody>
      </p:sp>
    </p:spTree>
    <p:extLst>
      <p:ext uri="{BB962C8B-B14F-4D97-AF65-F5344CB8AC3E}">
        <p14:creationId xmlns:p14="http://schemas.microsoft.com/office/powerpoint/2010/main" val="184704807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777</Words>
  <Application>Microsoft Office PowerPoint</Application>
  <PresentationFormat>Экран (16:9)</PresentationFormat>
  <Paragraphs>84</Paragraphs>
  <Slides>13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Roboto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Метрики обученной модели</vt:lpstr>
      <vt:lpstr>Итоги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Татьяна Бондарь</cp:lastModifiedBy>
  <cp:revision>4</cp:revision>
  <dcterms:modified xsi:type="dcterms:W3CDTF">2025-11-23T13:21:02Z</dcterms:modified>
</cp:coreProperties>
</file>